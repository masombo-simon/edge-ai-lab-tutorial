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7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9733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 err="1">
                <a:solidFill>
                  <a:srgbClr val="FFFFFF"/>
                </a:solidFill>
                <a:latin typeface="Congenial"/>
              </a:rPr>
              <a:t>EdgeAI</a:t>
            </a:r>
            <a:r>
              <a:rPr sz="5400" b="1" i="0" dirty="0">
                <a:solidFill>
                  <a:srgbClr val="FFFFFF"/>
                </a:solidFill>
                <a:latin typeface="Congenial"/>
              </a:rPr>
              <a:t> </a:t>
            </a:r>
            <a:r>
              <a:rPr sz="5400" b="1" i="0" dirty="0" err="1">
                <a:solidFill>
                  <a:srgbClr val="FFFFFF"/>
                </a:solidFill>
                <a:latin typeface="Congenial"/>
              </a:rPr>
              <a:t>TensorLab</a:t>
            </a:r>
            <a:endParaRPr sz="5400" b="1" i="0" dirty="0">
              <a:solidFill>
                <a:srgbClr val="FFFFFF"/>
              </a:solidFill>
              <a:latin typeface="Congen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2401061"/>
            <a:ext cx="5932170" cy="45719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575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 dirty="0">
                <a:solidFill>
                  <a:srgbClr val="E8F4FD"/>
                </a:solidFill>
                <a:latin typeface="Congenial"/>
              </a:rPr>
              <a:t>Training, Optimizing &amp; Deploying Deep Learning Models on TI Edge AI Processors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320" y="35753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C93"/>
                </a:solidFill>
                <a:latin typeface="Congenial"/>
              </a:rPr>
              <a:t>Publisher:  Texas Instruments Incorporated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320" y="3995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C93"/>
                </a:solidFill>
                <a:latin typeface="Congenial"/>
              </a:rPr>
              <a:t>Toolkit:    github.com/</a:t>
            </a:r>
            <a:r>
              <a:rPr sz="1300" b="0" i="0" dirty="0" err="1">
                <a:solidFill>
                  <a:srgbClr val="6B7C93"/>
                </a:solidFill>
                <a:latin typeface="Congenial"/>
              </a:rPr>
              <a:t>TexasInstruments</a:t>
            </a:r>
            <a:r>
              <a:rPr sz="1300" b="0" i="0" dirty="0">
                <a:solidFill>
                  <a:srgbClr val="6B7C93"/>
                </a:solidFill>
                <a:latin typeface="Congenial"/>
              </a:rPr>
              <a:t>/</a:t>
            </a:r>
            <a:r>
              <a:rPr sz="1300" b="0" i="0" dirty="0" err="1">
                <a:solidFill>
                  <a:srgbClr val="6B7C93"/>
                </a:solidFill>
                <a:latin typeface="Congenial"/>
              </a:rPr>
              <a:t>edgeai-tensorlab</a:t>
            </a:r>
            <a:endParaRPr sz="1300" b="0" i="0" dirty="0">
              <a:solidFill>
                <a:srgbClr val="6B7C93"/>
              </a:solidFill>
              <a:latin typeface="Congen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320" y="448741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C93"/>
                </a:solidFill>
                <a:latin typeface="Congenial"/>
              </a:rPr>
              <a:t>Target:     TDA4VM  |  AM68A  |  AM69A  |  AM62A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ongenial"/>
              </a:rPr>
              <a:t>Edge AI  |  Quantization  |  ONNX  |  TIDL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188720"/>
            <a:ext cx="2926080" cy="5029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1188720"/>
            <a:ext cx="50800" cy="5029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554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72BC"/>
                </a:solidFill>
                <a:latin typeface="Congenial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51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2BC"/>
                </a:solidFill>
                <a:latin typeface="Congenial"/>
              </a:rPr>
              <a:t>QUANTIZE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7490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72BC"/>
                </a:solidFill>
                <a:latin typeface="Congenial"/>
              </a:rPr>
              <a:t>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2BC"/>
                </a:solidFill>
                <a:latin typeface="Congenial"/>
              </a:rPr>
              <a:t>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What we will cover across these 22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2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59436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gen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3624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ongenial"/>
              </a:rPr>
              <a:t>Introduction &amp; Hardware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099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What EdgeAI TensorLab is, and the TI processor families it targets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75688"/>
            <a:ext cx="11430000" cy="1270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9436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258568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gen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295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ongenial"/>
              </a:rPr>
              <a:t>Architecture &amp; Model Zoo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64261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Repository structure, 300+ pre-trained models, and supported tasks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08376"/>
            <a:ext cx="11430000" cy="1270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191256"/>
            <a:ext cx="59436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19125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gen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2278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ongenial"/>
              </a:rPr>
              <a:t>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4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Classification, detection, and segmentation training frameworks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41064"/>
            <a:ext cx="11430000" cy="1270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123944"/>
            <a:ext cx="59436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12394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gen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1605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ongenial"/>
              </a:rPr>
              <a:t>Optimization Toolkit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5079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Layer surgery, structured pruning, and hardware-aware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73752"/>
            <a:ext cx="11430000" cy="1270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056632"/>
            <a:ext cx="594360" cy="56692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056632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ngen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0932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ongenial"/>
              </a:rPr>
              <a:t>Quantization &amp;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44068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QAT, PTQ, ONNX export, TIDL compilation, and real hardware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What is EdgeAI TensorLab?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An open-source toolkit by Texas Instruments for end-to-end deep learning at the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3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5943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ngenial"/>
              </a:rPr>
              <a:t>EdgeAI TensorLab is TI's comprehensive open-source toolkit that enables engineers to train, optimize, quantize, and deploy deep learning models directly onto TI edge AI processors — with accuracy preserved and latency minimized.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BC"/>
                </a:solidFill>
                <a:latin typeface="Congenial"/>
              </a:rPr>
              <a:t>01  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PyTorch-based training for classification, detection, segmentation, and pose estimation. Integrates with mmdetection and mmsegmentation.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10312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BC"/>
                </a:solidFill>
                <a:latin typeface="Congenial"/>
              </a:rPr>
              <a:t>02  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Layer surgery, structured pruning, and hardware-aware architecture design to maximize efficiency on TI silicon.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199"/>
            <a:ext cx="55778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8B"/>
                </a:solidFill>
                <a:latin typeface="Congenial"/>
              </a:rPr>
              <a:t>03  Quantize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0559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8-bit Quantization-Aware Training (QAT) and Post-Training Quantization (PTQ) with power-of-2 scale constraints for TIDL compatibility.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886199"/>
            <a:ext cx="557784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977639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0690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6B"/>
                </a:solidFill>
                <a:latin typeface="Congenial"/>
              </a:rPr>
              <a:t>04 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59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ONNX and TFLite export, TIDL compiler integration, and device-specific optimization for TDA4VM, AM68A, AM69A, and AM62A processors.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36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TI Edge AI Hardware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Processor families supported by EdgeAI TensorLab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4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325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AUTOMOTIVE &amp; INDUSTRIAL PROCESSORS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18745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2BC"/>
                </a:solidFill>
                <a:latin typeface="Congenial"/>
              </a:rPr>
              <a:t>TDA4VM / J7x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Automotive ADAS &amp; 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8892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8 TOPS MMA accelerator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4× ARM Cortex-A72 cores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ISO 26262 functional safety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Primary TensorLab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78308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18745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2BC"/>
                </a:solidFill>
                <a:latin typeface="Congenial"/>
              </a:rPr>
              <a:t>AM68A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Industrial &amp; Automotive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78892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4 TOPS MMA accelerator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2× ARM Cortex-A53 cores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IEC 61508 safety rating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Cameras + display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83080"/>
            <a:ext cx="27432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8745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8B"/>
                </a:solidFill>
                <a:latin typeface="Congenial"/>
              </a:rPr>
              <a:t>AM69A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High-Performance Multi-Camera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8892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32 TOPS MMA accelerator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8× ARM Cortex-A72 cores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ISO 26262 functional safety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Multi-sensor fusion capable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783080"/>
            <a:ext cx="274320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187452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6B"/>
                </a:solidFill>
                <a:latin typeface="Congenial"/>
              </a:rPr>
              <a:t>AM62A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Ultra-Low Power IoT / 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8892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1 TOP MMA accelerator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ARM Cortex-A53 core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Sub-2W power envelope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Industrial IoT deployments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32324"/>
            <a:ext cx="2286000" cy="3474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" y="515035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ongenial"/>
              </a:rPr>
              <a:t>  EVALUATION 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98998"/>
            <a:ext cx="2011680" cy="3474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0050" y="577367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ongenial"/>
              </a:rPr>
              <a:t>SK-TDA4VM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1730" y="5669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D3A4A"/>
                </a:solidFill>
                <a:latin typeface="Congenial"/>
              </a:rPr>
              <a:t>Starter kit — cameras, displays, full dev environment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7660" y="5701284"/>
            <a:ext cx="2011680" cy="3474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29100" y="57398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ongenial"/>
              </a:rPr>
              <a:t>AM68A-SK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6139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D3A4A"/>
                </a:solidFill>
                <a:latin typeface="Congenial"/>
              </a:rPr>
              <a:t>Industrial evaluation — USB, Ethernet, PCIe interfaces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5669280"/>
            <a:ext cx="2011680" cy="3474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5669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BeagleBone AI-64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559993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D3A4A"/>
                </a:solidFill>
                <a:latin typeface="Congenial"/>
              </a:rPr>
              <a:t>Community board — TDA4VM-based, open ecosystem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Repository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Six interconnected sub-repositories forming the complete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548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Congenial"/>
              </a:rPr>
              <a:t>EdgeAI</a:t>
            </a:r>
            <a:r>
              <a:rPr sz="1400" b="0" i="0" dirty="0">
                <a:solidFill>
                  <a:srgbClr val="FFFFFF"/>
                </a:solidFill>
                <a:latin typeface="Congenial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Congenial"/>
              </a:rPr>
              <a:t>TensorLab</a:t>
            </a:r>
            <a:r>
              <a:rPr sz="1400" b="0" i="0" dirty="0">
                <a:solidFill>
                  <a:srgbClr val="FFFFFF"/>
                </a:solidFill>
                <a:latin typeface="Congenial"/>
              </a:rPr>
              <a:t> uses a modular design — each sub-repository handles one part of the ML lifecycle. They are independently usable and deeply interconnected.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0574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urier New"/>
              </a:rPr>
              <a:t>edgeai-torchvision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Extended PyTorch vision library. Adds TI-specific model variants, quantization-aware layers, and hardware-friendly operators.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6596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574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urier New"/>
              </a:rPr>
              <a:t>edgeai-modelzoo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Collection of 300+ pre-trained models. Every model is validated for TIDL compatibility and benchmarked on TI hardware.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55778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Courier New"/>
              </a:rPr>
              <a:t>edgeai-modeloptimization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Quantization (QAT/PTQ), structured pruning, and layer surgery tools. Core toolkit for reducing model size and improving latency.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74720"/>
            <a:ext cx="557784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56616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6B"/>
                </a:solidFill>
                <a:latin typeface="Courier New"/>
              </a:rPr>
              <a:t>edgeai-mmdetection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0690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TI-adapted mmdetection framework. Trains YOLOX, SSD, RetinaNet, FCOS, and more with TIDL-compatible configurations.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83480"/>
            <a:ext cx="55778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507492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166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ourier New"/>
              </a:rPr>
              <a:t>edgeai-mmsegmentation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TI-adapted mmsegmentation framework. Trains DeepLabV3+, FastSCNN, DDRNet, and HRNet for semantic segmentation.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83480"/>
            <a:ext cx="5577840" cy="91440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507492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5166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93"/>
                </a:solidFill>
                <a:latin typeface="Courier New"/>
              </a:rPr>
              <a:t>edgeai-benchmark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778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Accuracy and performance benchmarking suite. Measures Top-1/mAP/mIoU, latency, FPS, model size, and memory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Model Zoo — 300+ Pre-Trained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TIDL-validated, benchmarked, and deployment-ready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6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2743200" cy="914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ngenial"/>
              </a:rP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  <a:latin typeface="Congenial"/>
              </a:rPr>
              <a:t>Pre-trained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43200" cy="914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ngenial"/>
              </a:rPr>
              <a:t>6+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genial"/>
              </a:rPr>
              <a:t>Supported task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43200" cy="914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ngenial"/>
              </a:rPr>
              <a:t>8-bit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genial"/>
              </a:rPr>
              <a:t>INT8 quantized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743200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325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ngenial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ongenial"/>
              </a:rPr>
              <a:t>TIDL compatible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95728"/>
            <a:ext cx="219456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23957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MODEL FAMILIES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3464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ngenial"/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493008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MobileNetV1 / V2 / V3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EfficientNet-Lite 0–4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ResNet 18 / 50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ShuffleNetV2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GhostNet / RegNet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ViT &amp; DeiT (lite)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83464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1840" y="29260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ngenial"/>
              </a:rPr>
              <a:t>Object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493008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YOLOX-nano / tiny / small</a:t>
            </a:r>
          </a:p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SSD-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MobileNet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variants</a:t>
            </a:r>
          </a:p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RetinaNet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/ FCOS</a:t>
            </a:r>
          </a:p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EfficientDet</a:t>
            </a:r>
            <a:endParaRPr sz="1200" dirty="0">
              <a:solidFill>
                <a:srgbClr val="2D3A4A"/>
              </a:solidFill>
              <a:latin typeface="Congenial"/>
            </a:endParaRPr>
          </a:p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CenterNet</a:t>
            </a:r>
            <a:endParaRPr sz="1200" dirty="0">
              <a:solidFill>
                <a:srgbClr val="2D3A4A"/>
              </a:solidFill>
              <a:latin typeface="Congenial"/>
            </a:endParaRPr>
          </a:p>
          <a:p>
            <a:pPr algn="l"/>
            <a:r>
              <a:rPr sz="12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NanoDet</a:t>
            </a:r>
            <a:endParaRPr sz="1200" dirty="0">
              <a:solidFill>
                <a:srgbClr val="2D3A4A"/>
              </a:solidFill>
              <a:latin typeface="Congen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17920" y="2834640"/>
            <a:ext cx="27432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29260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Congenial"/>
              </a:rPr>
              <a:t>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493008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DeepLabV3+ (MBV2/V3)</a:t>
            </a:r>
          </a:p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FastSCNN</a:t>
            </a:r>
            <a:endParaRPr sz="1200" dirty="0">
              <a:solidFill>
                <a:srgbClr val="2D3A4A"/>
              </a:solidFill>
              <a:latin typeface="Congenial"/>
            </a:endParaRPr>
          </a:p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DDRNet-23 / 39</a:t>
            </a:r>
          </a:p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HRNet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/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LiteHRNet</a:t>
            </a:r>
            <a:endParaRPr sz="1200" dirty="0">
              <a:solidFill>
                <a:srgbClr val="2D3A4A"/>
              </a:solidFill>
              <a:latin typeface="Congenial"/>
            </a:endParaRPr>
          </a:p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BiSeNetV1 / V2</a:t>
            </a:r>
          </a:p>
          <a:p>
            <a:pPr algn="l"/>
            <a:r>
              <a:rPr sz="1200" b="1" dirty="0">
                <a:solidFill>
                  <a:srgbClr val="008B8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SegFormer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(lite)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834640"/>
            <a:ext cx="274320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0" y="29260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8116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6B"/>
                </a:solidFill>
                <a:latin typeface="Congenial"/>
              </a:rPr>
              <a:t>Other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493008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HRNet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— Pose Estimation</a:t>
            </a:r>
          </a:p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LiteHRNet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— Lightweight Pose</a:t>
            </a:r>
          </a:p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RetinaFace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— Face Detection</a:t>
            </a:r>
          </a:p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SCRFD — Face Detection</a:t>
            </a:r>
          </a:p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 err="1">
                <a:solidFill>
                  <a:srgbClr val="2D3A4A"/>
                </a:solidFill>
                <a:latin typeface="Congenial"/>
              </a:rPr>
              <a:t>DepthAnything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 Lite</a:t>
            </a:r>
          </a:p>
          <a:p>
            <a:pPr algn="l"/>
            <a:r>
              <a:rPr sz="1200" b="1" dirty="0">
                <a:solidFill>
                  <a:srgbClr val="00A86B"/>
                </a:solidFill>
                <a:latin typeface="Congenial"/>
              </a:rPr>
              <a:t>▸  </a:t>
            </a:r>
            <a:r>
              <a:rPr sz="1200" dirty="0">
                <a:solidFill>
                  <a:srgbClr val="2D3A4A"/>
                </a:solidFill>
                <a:latin typeface="Congenial"/>
              </a:rPr>
              <a:t>DORN — Depth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Model Naming Convention &amp;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How to read and choose the right model from the Model Zoo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7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2004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NAMING CONVENTION DECODED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55648"/>
            <a:ext cx="11430000" cy="5669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847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genial"/>
              </a:rPr>
              <a:t>Every model name encodes its architecture, source, scale, training method, and quantization properties — making selection fast and unambiguous.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87168"/>
            <a:ext cx="2359152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87168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ourier New"/>
              </a:rPr>
              <a:t>mobilenet_v2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2636" y="2944368"/>
            <a:ext cx="25400" cy="25603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" y="3264408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2BC"/>
                </a:solidFill>
                <a:latin typeface="Congenial"/>
              </a:rPr>
              <a:t>Base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487168"/>
            <a:ext cx="969264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24871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_tv_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292" y="2944368"/>
            <a:ext cx="25400" cy="25603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3264408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2BC"/>
                </a:solidFill>
                <a:latin typeface="Congenial"/>
              </a:rPr>
              <a:t>Source (torchvision)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487168"/>
            <a:ext cx="62179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2487168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5916" y="2944368"/>
            <a:ext cx="25400" cy="2560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400" y="326440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B8B"/>
                </a:solidFill>
                <a:latin typeface="Congenial"/>
              </a:rPr>
              <a:t>Width multiplier (1.0×)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487168"/>
            <a:ext cx="969264" cy="457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06440" y="2487168"/>
            <a:ext cx="969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_qat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8372" y="2944368"/>
            <a:ext cx="25400" cy="2560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32120" y="3264408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86B"/>
                </a:solidFill>
                <a:latin typeface="Congenial"/>
              </a:rPr>
              <a:t>Quantization-Aware Trained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487168"/>
            <a:ext cx="795528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2487168"/>
            <a:ext cx="795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-p2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14664" y="2944368"/>
            <a:ext cx="2540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0" y="3264408"/>
            <a:ext cx="1344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5A623"/>
                </a:solidFill>
                <a:latin typeface="Congenial"/>
              </a:rPr>
              <a:t>Power-of-2 scales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487168"/>
            <a:ext cx="1143000" cy="457200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0" y="248716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.onnx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42880" y="2944368"/>
            <a:ext cx="25400" cy="256032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326440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C93"/>
                </a:solidFill>
                <a:latin typeface="Congenial"/>
              </a:rPr>
              <a:t>Export format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31920"/>
            <a:ext cx="347472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3931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HOW TO CHOOSE THE RIGHT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07408"/>
            <a:ext cx="3200400" cy="41148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407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Latency is the priority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4074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Choose MobileNetV2 x0.5 or x0.75, EfficientNet-Lite0, FastSCNN, or YOLOX-nano variants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10328"/>
            <a:ext cx="3200400" cy="41148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49103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Accuracy is the priority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4910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Choose EfficientNet-Lite4, ResNet50, YOLOX-small, or DeepLabV3+ with a wider backbone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13248"/>
            <a:ext cx="32004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4132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Smallest possible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54132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Choose GhostNet, ShuffleNetV2, NanoDet, or LiteHRNet with reduced width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916168"/>
            <a:ext cx="3200400" cy="4114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5916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Production 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5916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Always use a _qat-p2 (Quantization-Aware Trained, Power-of-2) variant for best INT8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Supported AI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Six task categories, each with dedicated models and training frameworks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8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BC"/>
                </a:solidFill>
                <a:latin typeface="Congenial"/>
              </a:rPr>
              <a:t>Image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92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What is in this image?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85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ImageNet 1000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9631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MobileNet, EfficientNet-Lite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ResNet, GhostNet, RegNet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Top-1 accuracy metric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Fastest inference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BC"/>
                </a:solidFill>
                <a:latin typeface="Congenial"/>
              </a:rPr>
              <a:t>Object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92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Where are the objects?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85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COCO 80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49631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YOLOX, SSD, RetinaNet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FCOS, EfficientDet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mAP@0.5 metric</a:t>
            </a:r>
          </a:p>
          <a:p>
            <a:pPr algn="l"/>
            <a:r>
              <a:rPr sz="11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Bounding box predictions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6576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141732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8B"/>
                </a:solidFill>
                <a:latin typeface="Congenial"/>
              </a:rPr>
              <a:t>Semantic 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8928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Label every single pixel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85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Cityscapes 19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9631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DeepLabV3+, FastSCNN</a:t>
            </a:r>
          </a:p>
          <a:p>
            <a:pPr algn="l"/>
            <a:r>
              <a:rPr sz="11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DDRNet, HRNet</a:t>
            </a:r>
          </a:p>
          <a:p>
            <a:pPr algn="l"/>
            <a:r>
              <a:rPr sz="11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mIoU metric</a:t>
            </a:r>
          </a:p>
          <a:p>
            <a:pPr algn="l"/>
            <a:r>
              <a:rPr sz="11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Per-pixel classification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77640"/>
            <a:ext cx="365760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6B"/>
                </a:solidFill>
                <a:latin typeface="Congenial"/>
              </a:rPr>
              <a:t>Pose Estimation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44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Locate human body joints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37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COCO Keypoints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14807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HRNet, LiteHRNet</a:t>
            </a:r>
          </a:p>
          <a:p>
            <a:pPr algn="l"/>
            <a:r>
              <a:rPr sz="11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17 keypoints per person</a:t>
            </a:r>
          </a:p>
          <a:p>
            <a:pPr algn="l"/>
            <a:r>
              <a:rPr sz="11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OKS metric</a:t>
            </a:r>
          </a:p>
          <a:p>
            <a:pPr algn="l"/>
            <a:r>
              <a:rPr sz="11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Real-time capable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977640"/>
            <a:ext cx="3657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ongenial"/>
              </a:rPr>
              <a:t>Depth Estimation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544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How far away is each pixel?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837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KITTI / NYU 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14807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DepthAnything Lite</a:t>
            </a:r>
          </a:p>
          <a:p>
            <a:pPr algn="l"/>
            <a:r>
              <a:rPr sz="1100" b="1">
                <a:solidFill>
                  <a:srgbClr val="F5A62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DORN architecture</a:t>
            </a:r>
          </a:p>
          <a:p>
            <a:pPr algn="l"/>
            <a:r>
              <a:rPr sz="1100" b="1">
                <a:solidFill>
                  <a:srgbClr val="F5A62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Absolute Rel. metric</a:t>
            </a:r>
          </a:p>
          <a:p>
            <a:pPr algn="l"/>
            <a:r>
              <a:rPr sz="1100" b="1">
                <a:solidFill>
                  <a:srgbClr val="F5A62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Monocular 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977640"/>
            <a:ext cx="3657600" cy="91440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4069080"/>
            <a:ext cx="36576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7C93"/>
                </a:solidFill>
                <a:latin typeface="Congenial"/>
              </a:rPr>
              <a:t>Face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544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Detect and localize faces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8371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C"/>
                </a:solidFill>
                <a:latin typeface="Congenial"/>
              </a:rPr>
              <a:t>WiderFace 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14807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C9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RetinaFace, SCRFD</a:t>
            </a:r>
          </a:p>
          <a:p>
            <a:pPr algn="l"/>
            <a:r>
              <a:rPr sz="1100" b="1">
                <a:solidFill>
                  <a:srgbClr val="6B7C9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AP metric across scales</a:t>
            </a:r>
          </a:p>
          <a:p>
            <a:pPr algn="l"/>
            <a:r>
              <a:rPr sz="1100" b="1">
                <a:solidFill>
                  <a:srgbClr val="6B7C9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Multi-scale detection</a:t>
            </a:r>
          </a:p>
          <a:p>
            <a:pPr algn="l"/>
            <a:r>
              <a:rPr sz="1100" b="1">
                <a:solidFill>
                  <a:srgbClr val="6B7C93"/>
                </a:solidFill>
                <a:latin typeface="Congenial"/>
              </a:rPr>
              <a:t>▸  </a:t>
            </a:r>
            <a:r>
              <a:rPr sz="1100">
                <a:solidFill>
                  <a:srgbClr val="2D3A4A"/>
                </a:solidFill>
                <a:latin typeface="Congenial"/>
              </a:rPr>
              <a:t>Landmark localization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Model Training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Three PyTorch-based frameworks covering all supported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5669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41501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Congenial"/>
              </a:rPr>
              <a:t>TensorLab</a:t>
            </a:r>
            <a:r>
              <a:rPr sz="1400" b="0" i="0" dirty="0">
                <a:solidFill>
                  <a:srgbClr val="FFFFFF"/>
                </a:solidFill>
                <a:latin typeface="Congenial"/>
              </a:rPr>
              <a:t> integrates three established </a:t>
            </a:r>
            <a:r>
              <a:rPr sz="1400" b="0" i="0" dirty="0" err="1">
                <a:solidFill>
                  <a:srgbClr val="FFFFFF"/>
                </a:solidFill>
                <a:latin typeface="Congenial"/>
              </a:rPr>
              <a:t>PyTorch</a:t>
            </a:r>
            <a:r>
              <a:rPr sz="1400" b="0" i="0" dirty="0">
                <a:solidFill>
                  <a:srgbClr val="FFFFFF"/>
                </a:solidFill>
                <a:latin typeface="Congenial"/>
              </a:rPr>
              <a:t> frameworks, each extended with TI-specific configurations, hardware-friendly default settings, and TIDL-compatible model variants.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urier New"/>
              </a:rPr>
              <a:t>edgeai-torchvision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C93"/>
                </a:solidFill>
                <a:latin typeface="Congenial"/>
              </a:rPr>
              <a:t>Classification &amp;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10896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Extended PyTorch torchvision library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TI-optimized MobileNet, EfficientNet, ResNet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SSD and related detection architectures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ImageNet training reference scripts included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Transfer learning and fine-tuning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0116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21031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urier New"/>
              </a:rPr>
              <a:t>edgeai-mmdetection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06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C93"/>
                </a:solidFill>
                <a:latin typeface="Congenial"/>
              </a:rPr>
              <a:t>Advanced Object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971800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10896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YOLOX, RetinaNet, FCOS, Faster RCNN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YAML config system — modify without code changes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Mosaic and MixUp augmentation pipelines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Multi-GPU distributed training ready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COCO evaluation metrics built-in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011680"/>
            <a:ext cx="36576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1031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Courier New"/>
              </a:rPr>
              <a:t>edgeai-mmsegmentation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06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C93"/>
                </a:solidFill>
                <a:latin typeface="Congenial"/>
              </a:rPr>
              <a:t>Semantic Segmentation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971800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310896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DeepLabV3+, FastSCNN, DDRNet, HRNet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Cityscapes and ADE20K dataset support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Multi-scale inference for best mIoU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Lightweight backbone swap in config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Panoptic segmentation variants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Training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TI-recommended settings for accuracy, stability, and deployment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10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56032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325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ARCHITECTURE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219456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3258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TRAINING RECIPE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83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Use ReLU or ReLU6 activations only — not SiLU, GELU, Mish, or Hardswish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Prefer depthwise separable convolutions for lower compute and TIDL efficiency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Use static input shapes — dynamic shapes prevent correct ONNX export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Verify all operators appear in the TIDL supported operator list before training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Avoid Python control flow inside exported model forward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Cosine annealing LR scheduler with 5-epoch linear warmup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Label smoothing at 0.1 — reduces overconfidence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MixUp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(alpha=0.2) and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CutMix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(alpha=1.0) data augmentation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Exponential Moving Average (EMA) of weights for best checkpoint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Gradient clipping at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max_norm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=1.0 for training 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1776" y="1325880"/>
            <a:ext cx="25400" cy="361188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5029200"/>
            <a:ext cx="320040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5029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ongenial"/>
              </a:rPr>
              <a:t>  TRANSFER LEARNING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1005840" cy="3840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4864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D3A4A"/>
                </a:solidFill>
                <a:latin typeface="Congenial"/>
              </a:rPr>
              <a:t>Load ImageNet-pretrained TI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48640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486400"/>
            <a:ext cx="1005840" cy="384048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51760" y="5486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4864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ongenial"/>
              </a:rPr>
              <a:t>Freeze feature extractor 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48640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486400"/>
            <a:ext cx="100584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0" y="5486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4864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ongenial"/>
              </a:rPr>
              <a:t>Replace and train classifier 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48640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5486400"/>
            <a:ext cx="1005840" cy="38404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23760" y="5486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4864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ongenial"/>
              </a:rPr>
              <a:t>Gradually unfreeze all 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486400"/>
            <a:ext cx="18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5486400"/>
            <a:ext cx="1005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54864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54864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  <a:latin typeface="Congenial"/>
              </a:rPr>
              <a:t>Fine-tune at 10× lower learning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Why Optimization is Non-Negotiable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The gap between a research model and a deployable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11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UNOPTIMIZED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1828800" cy="3474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OPTIMIZED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55648"/>
            <a:ext cx="5303520" cy="914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847088"/>
            <a:ext cx="5303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1920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E3E"/>
                </a:solidFill>
                <a:latin typeface="Congenial"/>
              </a:rPr>
              <a:t>ResNet50  (Float32, unmodified)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23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📦  Model size:    97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62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⏱   Latency:       580 ms on TDA4VM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009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⚡  Throughput:    ~1.7 FPS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3989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🔋  Power:         3.2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❌  Cannot meet real-time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9260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2BC"/>
                </a:solidFill>
                <a:latin typeface="Congenial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55648"/>
            <a:ext cx="539496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1847088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920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6B"/>
                </a:solidFill>
                <a:latin typeface="Congenial"/>
              </a:rPr>
              <a:t>MobileNetV2  (INT8 QAT, optimized)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423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📦  Model size:    4.1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62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⏱   Latency:       2.3 ms on TDA4VM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00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⚡  Throughput:    435 FPS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398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🔋  Power:         0.8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788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  <a:latin typeface="Congenial"/>
              </a:rPr>
              <a:t>✅  Production-ready real-time inference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87900"/>
            <a:ext cx="11430000" cy="3728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-137160" y="479018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ongenial"/>
              </a:rPr>
              <a:t>24× Smaller Model   |   252× Faster Latency   |   4× Lower Power   |   &lt;1% Accuracy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12" y="5299964"/>
            <a:ext cx="18288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3583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9412" y="5727700"/>
            <a:ext cx="11430000" cy="566928"/>
          </a:xfrm>
          <a:prstGeom prst="rect">
            <a:avLst/>
          </a:prstGeom>
          <a:solidFill>
            <a:srgbClr val="E8F4FD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76783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D1B2A"/>
                </a:solidFill>
                <a:latin typeface="Congenial"/>
              </a:rPr>
              <a:t>Optimization is not an afterthought — it is an integral part of the design process. </a:t>
            </a:r>
            <a:r>
              <a:rPr sz="1300" b="0" i="0" dirty="0" err="1">
                <a:solidFill>
                  <a:srgbClr val="0D1B2A"/>
                </a:solidFill>
                <a:latin typeface="Congenial"/>
              </a:rPr>
              <a:t>TensorLab's</a:t>
            </a:r>
            <a:r>
              <a:rPr sz="1300" b="0" i="0" dirty="0">
                <a:solidFill>
                  <a:srgbClr val="0D1B2A"/>
                </a:solidFill>
                <a:latin typeface="Congenial"/>
              </a:rPr>
              <a:t> toolkit makes it systematic, measurable, and reproducible.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Three Pillars of Model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Sequential techniques for maximum efficiency on TI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12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28016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PILLAR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84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2BC"/>
                </a:solidFill>
                <a:latin typeface="Congenial"/>
              </a:rPr>
              <a:t>Layer Surgery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Replace hardware-incompatible operators before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98648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06324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SiLU / GELU / Mish → ReLU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Hardswish → ReLU6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Non-standard SE blocks → lite variants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No accuracy loss — equivalent math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Required before TIDL compilation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14173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1508760"/>
            <a:ext cx="128016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PILLAR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984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2BC"/>
                </a:solidFill>
                <a:latin typeface="Congenial"/>
              </a:rPr>
              <a:t>Structured Pruning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Remove redundant weights and channels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898648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400" y="306324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Target 30–50% weight reduction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Iterative: prune → fine-tune → repeat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L1-norm channel pruning (structured)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Minimal accuracy impact if done gradually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Requires retraining after pruning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25880"/>
            <a:ext cx="36576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4173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1508760"/>
            <a:ext cx="128016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PILLAR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984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8B"/>
                </a:solidFill>
                <a:latin typeface="Congenial"/>
              </a:rPr>
              <a:t>Quantization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496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C93"/>
                </a:solidFill>
                <a:latin typeface="Congenial"/>
              </a:rPr>
              <a:t>Reduce from 32-bit float to 8-bit integer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898648"/>
            <a:ext cx="3200400" cy="19050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06324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4× model size reduction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2–4× inference speedup on MMA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Requires power-of-2 scale constraint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Two paths: QAT or PTQ</a:t>
            </a:r>
          </a:p>
          <a:p>
            <a:pPr algn="l"/>
            <a:r>
              <a:rPr sz="13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&lt;1% accuracy loss achievable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345" y="5799582"/>
            <a:ext cx="11430000" cy="256032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292" y="5799582"/>
            <a:ext cx="110642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ongenial"/>
              </a:rPr>
              <a:t>Apply in order:  Surgery first  →  Pruning second  →  Quantization last  — each step builds on the previous.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Quantization — Making Models Hardware-Friendly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4FD"/>
                </a:solidFill>
                <a:latin typeface="Congenial"/>
              </a:rPr>
              <a:t>The most impactful single optimization for TI edge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13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5669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ongenial"/>
              </a:rPr>
              <a:t>Quantization converts 32-bit floating-point weights and activations into 8-bit integers — reducing model size 4× and enabling the TI MMA (Matrix Multiply Accelerator) to run at full hardware throughput.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9968"/>
            <a:ext cx="22860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0299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WHAT IS QUANTIZED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87168"/>
            <a:ext cx="1645920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4871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genial"/>
              </a:rPr>
              <a:t>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42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D3A4A"/>
                </a:solidFill>
                <a:latin typeface="Congenial"/>
              </a:rPr>
              <a:t>Per-channel INT8  —  best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81528"/>
            <a:ext cx="1645920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0815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genial"/>
              </a:rPr>
              <a:t>Activations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5980" y="31272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D3A4A"/>
                </a:solidFill>
                <a:latin typeface="Congenial"/>
              </a:rPr>
              <a:t>Per-tensor INT8  —  hardware efficient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75888"/>
            <a:ext cx="164592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genial"/>
              </a:rPr>
              <a:t>Biases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73303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D3A4A"/>
                </a:solidFill>
                <a:latin typeface="Congenial"/>
              </a:rPr>
              <a:t>INT32  —  kept at higher 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70248"/>
            <a:ext cx="1645920" cy="457200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270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genial"/>
              </a:rPr>
              <a:t>BN 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8548" y="43159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D3A4A"/>
                </a:solidFill>
                <a:latin typeface="Congenial"/>
              </a:rPr>
              <a:t>Folded into conv  —  zero overhead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1776" y="2029968"/>
            <a:ext cx="25400" cy="4279392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2029968"/>
            <a:ext cx="32004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2029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TI HARDWARE REQUIREMENTS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87168"/>
            <a:ext cx="539496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257860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ongenial"/>
              </a:rPr>
              <a:t>⚠  CRITICAL — Power-of-2 Scales
TI hardware requires quantization scale factors to be exact powers of 2 (1, 2, 4, 8, 16 …). This must be enabled in the quantization config. Floating-point scales will fail at TIDL compile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47872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Symmetric weight quantization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Unsigned activations after ReLU layers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Per-channel quantization for weights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Per-tensor quantization for activations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Batch Norm folded into convolution</a:t>
            </a:r>
          </a:p>
          <a:p>
            <a:pPr algn="l"/>
            <a:r>
              <a:rPr sz="13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300">
                <a:solidFill>
                  <a:srgbClr val="2D3A4A"/>
                </a:solidFill>
                <a:latin typeface="Congenial"/>
              </a:rPr>
              <a:t>ONNX opset 11 for TIDL compiler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2926080" cy="3474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51206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BENEFITS ON TI HARDWARE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77840"/>
            <a:ext cx="2743200" cy="6858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55778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genial"/>
              </a:rPr>
              <a:t>4×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5778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Model
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577840"/>
            <a:ext cx="2743200" cy="6858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91840" y="55778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genial"/>
              </a:rPr>
              <a:t>2–4×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55778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Inference
Speed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577840"/>
            <a:ext cx="274320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55778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genial"/>
              </a:rPr>
              <a:t>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5778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Memory
Bandwidth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5577840"/>
            <a:ext cx="2743200" cy="6858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557784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ongenial"/>
              </a:rPr>
              <a:t>&lt;1%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55778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Accuracy
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QAT vs PTQ — Choosing Your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Two paths to INT8 — tradeoffs explained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14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320040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genial"/>
              </a:rPr>
              <a:t>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325880"/>
            <a:ext cx="384048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325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genial"/>
              </a:rPr>
              <a:t>Post-Training Quant (PTQ)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325880"/>
            <a:ext cx="4206240" cy="50292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13258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genial"/>
              </a:rPr>
              <a:t>Quantization-Aware Training (QAT)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28800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828800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Retraining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828800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1828800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0072BC"/>
                </a:solidFill>
                <a:latin typeface="Congenial"/>
              </a:rPr>
              <a:t>❌  No retraining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828800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16368" y="1828800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✅  10–20 fine-tuning epochs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95728"/>
            <a:ext cx="320040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2395728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Calibration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395728"/>
            <a:ext cx="384048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8" y="2395728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100–1000 representative samples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395728"/>
            <a:ext cx="4206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16368" y="2395728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Full training dataset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62656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2962656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Time to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962656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2962656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⚡  Minutes to hours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2962656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16368" y="2962656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⏱  Hours to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9584"/>
            <a:ext cx="320040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" y="3529584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Typical Accuracy Loss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529584"/>
            <a:ext cx="384048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75888" y="3529584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1–3% below float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529584"/>
            <a:ext cx="4206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16368" y="3529584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&lt;1% below float baseline  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96512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" y="4096512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Best Use Case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4096512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75888" y="4096512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Quick prototyping &amp;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096512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16368" y="4096512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Production deployment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663440"/>
            <a:ext cx="320040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4663440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Complexity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4663440"/>
            <a:ext cx="384048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75888" y="4663440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Low — minimal setup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663440"/>
            <a:ext cx="4206240" cy="530352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16368" y="4663440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Medium — training loop required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230368"/>
            <a:ext cx="3200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5230368"/>
            <a:ext cx="298094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ongenial"/>
              </a:rPr>
              <a:t>TI Recommendation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5230368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75888" y="5230368"/>
            <a:ext cx="36210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Good starting point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5230368"/>
            <a:ext cx="4206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16368" y="5230368"/>
            <a:ext cx="3986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✅✅  Preferred for release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12" y="5804154"/>
            <a:ext cx="11430000" cy="685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5488" y="58567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D1B2A"/>
                </a:solidFill>
                <a:latin typeface="Congenial"/>
              </a:rPr>
              <a:t>QAT Workflow:  Float Training  →  Insert Fake-Quant Nodes  →  Fine-tune 10–20 epochs at 10× lower LR  →  Freeze BN stats at epoch 5  →  Convert to INT8  →  ONNX Export  →  TIDL Compile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QAT Training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Step-by-step process for production-quality INT8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00584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5087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Start from Trained Float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Load a converged Float32 checkpoint — do not start QAT from scratch. QAT is fine-tuning, not training from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1508760"/>
            <a:ext cx="100584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5087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Configure Quantization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8424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Enable power-of-2 scales, per-channel weight quantization, symmetric weights, and unsigned activations in the config 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71800"/>
            <a:ext cx="55778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06324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154680"/>
            <a:ext cx="1005840" cy="3474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1546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154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Fine-Tune with Fake-Quantization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3016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Train for 10–20 epochs at 1/10th the original learning rate. Fake-quant nodes simulate INT8 rounding during forward pass.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71800"/>
            <a:ext cx="557784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06324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20" y="3154680"/>
            <a:ext cx="1005840" cy="3474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1546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154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Freeze Batch Norm Statistics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63016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After epoch 5, freeze BN running stats. This stabilizes quantization scale estimation and prevents drift.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57784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4800600"/>
            <a:ext cx="10058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8006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4800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Validate Accuracy — Check the Drop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760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Run full validation. Acceptable: &lt;1% accuracy loss. If &gt;2% loss, revisit LR, epoch count, or observer settings.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577840" cy="91440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4709160"/>
            <a:ext cx="5577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46520" y="4800600"/>
            <a:ext cx="1005840" cy="347472"/>
          </a:xfrm>
          <a:prstGeom prst="rect">
            <a:avLst/>
          </a:prstGeom>
          <a:solidFill>
            <a:srgbClr val="6B7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8006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genial"/>
              </a:rPr>
              <a:t>STEP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800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ongenial"/>
              </a:rPr>
              <a:t>Convert to INT8 and 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2760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  <a:latin typeface="Congenial"/>
              </a:rPr>
              <a:t>Convert model to fully quantized INT8. Export to ONNX opset 11. Run onnx-simplifier. Deploy to TI hardware.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ONNX Export — The Bridge to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Exporting models correctly for TIDL compilation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16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5669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31216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ongenial"/>
              </a:rPr>
              <a:t>ONNX (Open Neural Network Exchange) is the standard interchange format used by TI TIDL. A correctly exported and simplified ONNX model is required before any TI hardware compilation can begin.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9968"/>
            <a:ext cx="219456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029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EXPORT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87168"/>
            <a:ext cx="192024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871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QAT Model
(.pth)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487168"/>
            <a:ext cx="1920240" cy="7772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4871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 err="1">
                <a:solidFill>
                  <a:srgbClr val="FFFFFF"/>
                </a:solidFill>
                <a:latin typeface="Congenial"/>
              </a:rPr>
              <a:t>torch.onnx</a:t>
            </a:r>
            <a:r>
              <a:rPr sz="1200" b="1" i="0" dirty="0">
                <a:solidFill>
                  <a:srgbClr val="FFFFFF"/>
                </a:solidFill>
                <a:latin typeface="Congenial"/>
              </a:rPr>
              <a:t>
.export()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487168"/>
            <a:ext cx="1920240" cy="7772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24871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Raw ONNX
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487168"/>
            <a:ext cx="1920240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0" y="24871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onnx-sim
simplify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9748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72BC"/>
                </a:solidFill>
                <a:latin typeface="Congen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487168"/>
            <a:ext cx="1920240" cy="7772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2487168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TIDL-ready
ONNX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93008"/>
            <a:ext cx="27432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3493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EXPORT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950208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Opset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version 11 — TI TIDL requirement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Static input shapes — no dynamic axes in model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Set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input_names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and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output_names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explicitly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Enable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do_constant_folding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for smaller graph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Run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onnx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-simplifier after export</a:t>
            </a:r>
          </a:p>
          <a:p>
            <a:pPr algn="l"/>
            <a:r>
              <a:rPr sz="1300" b="1" dirty="0">
                <a:solidFill>
                  <a:srgbClr val="0072BC"/>
                </a:solidFill>
                <a:latin typeface="Congenial"/>
              </a:rPr>
              <a:t>▸  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Validate ONNX vs </a:t>
            </a:r>
            <a:r>
              <a:rPr sz="1300" dirty="0" err="1">
                <a:solidFill>
                  <a:srgbClr val="2D3A4A"/>
                </a:solidFill>
                <a:latin typeface="Congenial"/>
              </a:rPr>
              <a:t>PyTorch</a:t>
            </a:r>
            <a:r>
              <a:rPr sz="1300" dirty="0">
                <a:solidFill>
                  <a:srgbClr val="2D3A4A"/>
                </a:solidFill>
                <a:latin typeface="Congenial"/>
              </a:rPr>
              <a:t> output numerically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1776" y="3493008"/>
            <a:ext cx="25400" cy="2907792"/>
          </a:xfrm>
          <a:prstGeom prst="rect">
            <a:avLst/>
          </a:prstGeom>
          <a:solidFill>
            <a:srgbClr val="E0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3493008"/>
            <a:ext cx="292608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TIDL OPERATOR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9502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Conv2d (3×3, 1×1, 5×5, 7×7)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29768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D3A4A"/>
                </a:solidFill>
                <a:latin typeface="Congenial"/>
              </a:rPr>
              <a:t>DepthwiseConv2d — all strides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451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6451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BatchNorm — fused with Conv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9926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99262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ReLU / ReLU6  |  MaxPool / AvgPool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4009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34009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Add / Concat / Multiply / GlobalAvgPool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875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6B"/>
                </a:solidFill>
                <a:latin typeface="Congenial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68756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Upsample — bilinear &amp; nearest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035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ongenial"/>
              </a:rPr>
              <a:t>⚠️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603504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GroupConv — ARM fallback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6263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53E3E"/>
                </a:solidFill>
                <a:latin typeface="Congenial"/>
              </a:rP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625906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D3A4A"/>
                </a:solidFill>
                <a:latin typeface="Congenial"/>
              </a:rPr>
              <a:t>Custom CUDA kernels — not supported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Benchmarking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Measuring what matters — accuracy, latency, and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18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84248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Top-1 / Top-5 (classification)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mAP@0.5:0.95 (detection)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mIoU (segmentation)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OKS (pose estimation)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274320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BC"/>
                </a:solidFill>
                <a:latin typeface="Congenial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984248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Mean / P50 / P95 / P99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ms per frame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FPS throughput</a:t>
            </a:r>
          </a:p>
          <a:p>
            <a:pPr algn="l"/>
            <a:r>
              <a:rPr sz="1200" b="1">
                <a:solidFill>
                  <a:srgbClr val="0072BC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Warm-up vs sustained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4320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  <a:latin typeface="Congenial"/>
              </a:rPr>
              <a:t>Model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84248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MB on disk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Parameter count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MACs / GFLOPs</a:t>
            </a:r>
          </a:p>
          <a:p>
            <a:pPr algn="l"/>
            <a:r>
              <a:rPr sz="1200" b="1">
                <a:solidFill>
                  <a:srgbClr val="008B8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Compression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274320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6B"/>
                </a:solidFill>
                <a:latin typeface="Congenial"/>
              </a:rPr>
              <a:t>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984248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Peak GPU / SRAM usage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DDR bandwidth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Activation memory</a:t>
            </a:r>
          </a:p>
          <a:p>
            <a:pPr algn="l"/>
            <a:r>
              <a:rPr sz="1200" b="1">
                <a:solidFill>
                  <a:srgbClr val="00A86B"/>
                </a:solidFill>
                <a:latin typeface="Congenial"/>
              </a:rPr>
              <a:t>▸  </a:t>
            </a:r>
            <a:r>
              <a:rPr sz="1200">
                <a:solidFill>
                  <a:srgbClr val="2D3A4A"/>
                </a:solidFill>
                <a:latin typeface="Congenial"/>
              </a:rPr>
              <a:t>Runtime overhead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20440"/>
            <a:ext cx="2286000" cy="34747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3520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genial"/>
              </a:rPr>
              <a:t>  EVALUATION TOOLS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77639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069079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11479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ngenial"/>
              </a:rPr>
              <a:t>edgeai-benchmark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05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Full accuracy + latency suite. Runs classification, detection, and segmentation benchmarks with a single command.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977639"/>
            <a:ext cx="5577840" cy="9144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069079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11479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2BC"/>
                </a:solidFill>
                <a:latin typeface="Congenial"/>
              </a:rPr>
              <a:t>TensorBoard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805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Training curve visualization. Loss, accuracy, LR, and weight histograms updated in real-time during training.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20639"/>
            <a:ext cx="55778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5212079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25779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  <a:latin typeface="Congenial"/>
              </a:rPr>
              <a:t>COCO eval / Cityscapes 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235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Standard benchmark evaluation scripts. Produces official mAP and mIoU numbers comparable to published papers.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120639"/>
            <a:ext cx="5577840" cy="914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5212079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525779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6B"/>
                </a:solidFill>
                <a:latin typeface="Congenial"/>
              </a:rPr>
              <a:t>Layer Profiler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6235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  <a:latin typeface="Congenial"/>
              </a:rPr>
              <a:t>Per-layer latency breakdown on TI hardware. Identifies bottlenecks for targeted architectural improvements.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430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ongenial"/>
              </a:rPr>
              <a:t>Real-World Performance on TDA4VM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  <a:latin typeface="Congenial"/>
              </a:rPr>
              <a:t>Measured on SK-TDA4VM Evaluation Board (8 TOPS MMA)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254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6ED"/>
                </a:solidFill>
                <a:latin typeface="Congenial"/>
              </a:rPr>
              <a:t>Texas Instruments  |  EdgeAI TensorLab  |  Deep Learning for the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  <a:latin typeface="Congenial"/>
              </a:rPr>
              <a:t>Slide 19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1430000" cy="475488"/>
          </a:xfrm>
          <a:prstGeom prst="rect">
            <a:avLst/>
          </a:prstGeom>
          <a:solidFill>
            <a:srgbClr val="0D1B2A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8930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ongenial"/>
              </a:rPr>
              <a:t>All numbers measured with INT8 QAT models compiled by TIDL. Latency = end-to-end inference including pre/post processing. Accuracy = validation set, standard benchmarks.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34747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87451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genial"/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874519"/>
            <a:ext cx="20116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187451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genial"/>
              </a:rPr>
              <a:t>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874519"/>
            <a:ext cx="182880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1874519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genial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874519"/>
            <a:ext cx="16459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1874519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genial"/>
              </a:rPr>
              <a:t>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874519"/>
            <a:ext cx="16459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874519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genial"/>
              </a:rPr>
              <a:t>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13432"/>
            <a:ext cx="3474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313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MobileNetV2 x1.0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31343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0" y="2313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31343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2313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71.8% Top-1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31343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0" y="23134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2.3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31343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23134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3.4 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16352"/>
            <a:ext cx="3474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28163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EfficientNet-Lite0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2816352"/>
            <a:ext cx="2011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31920" y="28163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Classification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2816352"/>
            <a:ext cx="1828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0" y="28163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75.1% Top-1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81635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0" y="28163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3.1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281635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0" y="28163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4.7 MB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319272"/>
            <a:ext cx="3474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319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ResNet18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331927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0" y="3319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Classification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331927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0" y="33192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69.7% Top-1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33192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0" y="33192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4.2 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3192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18320" y="33192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44 MB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822192"/>
            <a:ext cx="3474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8221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YOLOX-tiny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3822192"/>
            <a:ext cx="2011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31920" y="38221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822192"/>
            <a:ext cx="1828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0" y="3822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32.8 mAP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382219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0" y="38221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8.5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382219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18320" y="38221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5.0 MB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325112"/>
            <a:ext cx="3474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3251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SSD-MobileNetV2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0" y="43251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931920" y="4325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4325112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943600" y="43251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22.1 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80960" y="432511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72400" y="4325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6.7 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432511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18320" y="4325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16 MB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828032"/>
            <a:ext cx="3474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48280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  <a:latin typeface="Congenial"/>
              </a:rPr>
              <a:t>DeepLabV3+-MBV2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0" y="4828032"/>
            <a:ext cx="2011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931920" y="4828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Segmentation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160" y="4828032"/>
            <a:ext cx="18288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0" y="48280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2BC"/>
                </a:solidFill>
                <a:latin typeface="Congenial"/>
              </a:rPr>
              <a:t>73.2 mIoU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482803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772400" y="48280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15.2 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26880" y="4828032"/>
            <a:ext cx="1645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418320" y="48280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3A4A"/>
                </a:solidFill>
                <a:latin typeface="Congenial"/>
              </a:rPr>
              <a:t>8.3 MB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330952"/>
            <a:ext cx="3474720" cy="457200"/>
          </a:xfrm>
          <a:prstGeom prst="rect">
            <a:avLst/>
          </a:prstGeom>
          <a:solidFill>
            <a:srgbClr val="00A86B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57200" y="5330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genial"/>
              </a:rPr>
              <a:t>FastSCNN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5330952"/>
            <a:ext cx="2011680" cy="457200"/>
          </a:xfrm>
          <a:prstGeom prst="rect">
            <a:avLst/>
          </a:prstGeom>
          <a:solidFill>
            <a:srgbClr val="00A86B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931920" y="5330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Segmentation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5330952"/>
            <a:ext cx="1828800" cy="457200"/>
          </a:xfrm>
          <a:prstGeom prst="rect">
            <a:avLst/>
          </a:prstGeom>
          <a:solidFill>
            <a:srgbClr val="00A86B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0" y="53309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70.8 mIoU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0960" y="5330952"/>
            <a:ext cx="1645920" cy="457200"/>
          </a:xfrm>
          <a:prstGeom prst="rect">
            <a:avLst/>
          </a:prstGeom>
          <a:solidFill>
            <a:srgbClr val="00A86B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772400" y="53309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8.9 ms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26880" y="5330952"/>
            <a:ext cx="1645920" cy="457200"/>
          </a:xfrm>
          <a:prstGeom prst="rect">
            <a:avLst/>
          </a:prstGeom>
          <a:solidFill>
            <a:srgbClr val="00A86B"/>
          </a:solidFill>
          <a:ln w="63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418320" y="53309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genial"/>
              </a:rPr>
              <a:t>1.1 MB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765292"/>
            <a:ext cx="11075670" cy="653796"/>
          </a:xfrm>
          <a:prstGeom prst="rect">
            <a:avLst/>
          </a:prstGeom>
          <a:solidFill>
            <a:srgbClr val="E8F4FD"/>
          </a:solidFill>
          <a:ln w="19050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" y="5822442"/>
            <a:ext cx="106184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D1B2A"/>
                </a:solidFill>
                <a:latin typeface="Congenial"/>
              </a:rPr>
              <a:t>Key takeaway:  </a:t>
            </a:r>
            <a:r>
              <a:rPr sz="1300" b="0" i="0" dirty="0" err="1">
                <a:solidFill>
                  <a:srgbClr val="0D1B2A"/>
                </a:solidFill>
                <a:latin typeface="Congenial"/>
              </a:rPr>
              <a:t>FastSCNN</a:t>
            </a:r>
            <a:r>
              <a:rPr sz="1300" b="0" i="0" dirty="0">
                <a:solidFill>
                  <a:srgbClr val="0D1B2A"/>
                </a:solidFill>
                <a:latin typeface="Congenial"/>
              </a:rPr>
              <a:t> achieves 70.8 </a:t>
            </a:r>
            <a:r>
              <a:rPr sz="1300" b="0" i="0" dirty="0" err="1">
                <a:solidFill>
                  <a:srgbClr val="0D1B2A"/>
                </a:solidFill>
                <a:latin typeface="Congenial"/>
              </a:rPr>
              <a:t>mIoU</a:t>
            </a:r>
            <a:r>
              <a:rPr sz="1300" b="0" i="0" dirty="0">
                <a:solidFill>
                  <a:srgbClr val="0D1B2A"/>
                </a:solidFill>
                <a:latin typeface="Congenial"/>
              </a:rPr>
              <a:t> segmentation at only 1.1 MB — a direct result of hardware-aware architecture + INT8 QAT optimization. Always validate on actual TI silicon — GPU benchmarks do not predict edge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59115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FFFFFF"/>
                </a:solidFill>
                <a:latin typeface="Congenial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3027046"/>
            <a:ext cx="5486400" cy="381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2376" y="3339845"/>
            <a:ext cx="7315200" cy="71323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156" y="3339845"/>
            <a:ext cx="63500" cy="713232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020" y="335851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93"/>
                </a:solidFill>
                <a:latin typeface="Congenial"/>
              </a:rPr>
              <a:t>GitHub Repository: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020" y="367855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genial"/>
              </a:rPr>
              <a:t>github.com/TexasInstruments/edgeai-tensorlab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0" y="1371600"/>
            <a:ext cx="50800" cy="5029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16916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Toolkit: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0312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BC"/>
                </a:solidFill>
                <a:latin typeface="Congenial"/>
              </a:rPr>
              <a:t>EdgeAI TensorLab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697480"/>
            <a:ext cx="2743200" cy="1905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15400" y="28803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C93"/>
                </a:solidFill>
                <a:latin typeface="Congenial"/>
              </a:rPr>
              <a:t>Publisher: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26440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genial"/>
              </a:rPr>
              <a:t>Texas Instruments
Incorporated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0690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93"/>
                </a:solidFill>
                <a:latin typeface="Congenial"/>
              </a:rPr>
              <a:t>Target HW: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TDA4VM / AM68A / AM69A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6360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93"/>
                </a:solidFill>
                <a:latin typeface="Congenial"/>
              </a:rPr>
              <a:t>License: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910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Apache 2.0 — Open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52029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93"/>
                </a:solidFill>
                <a:latin typeface="Congenial"/>
              </a:rPr>
              <a:t>Framework: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54772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genial"/>
              </a:rPr>
              <a:t>PyTorch + ONNX + TIDL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1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93"/>
                </a:solidFill>
                <a:latin typeface="Congenial"/>
              </a:rPr>
              <a:t>Texas Instruments  |  EdgeAI TensorLab  |  Deep Learning for the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2971</Words>
  <Application>Microsoft Office PowerPoint</Application>
  <PresentationFormat>Custom</PresentationFormat>
  <Paragraphs>531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Congenial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Simon Masombo</cp:lastModifiedBy>
  <cp:revision>4</cp:revision>
  <dcterms:created xsi:type="dcterms:W3CDTF">2013-01-27T09:14:16Z</dcterms:created>
  <dcterms:modified xsi:type="dcterms:W3CDTF">2026-05-19T08:41:13Z</dcterms:modified>
  <cp:category/>
</cp:coreProperties>
</file>